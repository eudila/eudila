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fe9187611841c3" /><Relationship Type="http://schemas.openxmlformats.org/officeDocument/2006/relationships/extended-properties" Target="/docProps/app.xml" Id="R9a67c422066e43d2" /><Relationship Type="http://schemas.openxmlformats.org/officeDocument/2006/relationships/officeDocument" Target="/ppt/presentation.xml" Id="R7b4ee59fe95c47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b3bfdf9ae242f1"/>
  </p:sldMasterIdLst>
  <p:notesMasterIdLst>
    <p:notesMasterId xmlns:r="http://schemas.openxmlformats.org/officeDocument/2006/relationships" r:id="R5af724b1bfb44992"/>
  </p:notesMasterIdLst>
  <p:sldIdLst>
    <p:sldId xmlns:r="http://schemas.openxmlformats.org/officeDocument/2006/relationships" id="256" r:id="R1ec1c80067334250"/>
    <p:sldId xmlns:r="http://schemas.openxmlformats.org/officeDocument/2006/relationships" id="257" r:id="R87ee37fcaa204f35"/>
    <p:sldId xmlns:r="http://schemas.openxmlformats.org/officeDocument/2006/relationships" id="258" r:id="R5b49d69377664844"/>
    <p:sldId xmlns:r="http://schemas.openxmlformats.org/officeDocument/2006/relationships" id="259" r:id="R38e43629dfd44c96"/>
    <p:sldId xmlns:r="http://schemas.openxmlformats.org/officeDocument/2006/relationships" id="260" r:id="R56e3704feea14fa2"/>
    <p:sldId xmlns:r="http://schemas.openxmlformats.org/officeDocument/2006/relationships" id="261" r:id="R82db5a35730e404c"/>
    <p:sldId xmlns:r="http://schemas.openxmlformats.org/officeDocument/2006/relationships" id="262" r:id="Rbe4d99d68f7f4849"/>
    <p:sldId xmlns:r="http://schemas.openxmlformats.org/officeDocument/2006/relationships" id="263" r:id="Rce2ac3feca9d45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7a49e5a91d4065" /><Relationship Type="http://schemas.openxmlformats.org/officeDocument/2006/relationships/slideMaster" Target="/ppt/slideMasters/slideMaster1.xml" Id="Rd6b3bfdf9ae242f1" /><Relationship Type="http://schemas.openxmlformats.org/officeDocument/2006/relationships/notesMaster" Target="/ppt/notesMasters/notesMaster1.xml" Id="R5af724b1bfb44992" /><Relationship Type="http://schemas.openxmlformats.org/officeDocument/2006/relationships/presProps" Target="/ppt/presProps.xml" Id="R7e1cc5d91fd9447a" /><Relationship Type="http://schemas.openxmlformats.org/officeDocument/2006/relationships/tableStyles" Target="/ppt/tableStyles.xml" Id="R05ff8529334948cc" /><Relationship Type="http://schemas.openxmlformats.org/officeDocument/2006/relationships/slide" Target="/ppt/slides/slide1.xml" Id="R1ec1c80067334250" /><Relationship Type="http://schemas.openxmlformats.org/officeDocument/2006/relationships/slide" Target="/ppt/slides/slide2.xml" Id="R87ee37fcaa204f35" /><Relationship Type="http://schemas.openxmlformats.org/officeDocument/2006/relationships/slide" Target="/ppt/slides/slide3.xml" Id="R5b49d69377664844" /><Relationship Type="http://schemas.openxmlformats.org/officeDocument/2006/relationships/slide" Target="/ppt/slides/slide4.xml" Id="R38e43629dfd44c96" /><Relationship Type="http://schemas.openxmlformats.org/officeDocument/2006/relationships/slide" Target="/ppt/slides/slide5.xml" Id="R56e3704feea14fa2" /><Relationship Type="http://schemas.openxmlformats.org/officeDocument/2006/relationships/slide" Target="/ppt/slides/slide6.xml" Id="R82db5a35730e404c" /><Relationship Type="http://schemas.openxmlformats.org/officeDocument/2006/relationships/slide" Target="/ppt/slides/slide7.xml" Id="Rbe4d99d68f7f4849" /><Relationship Type="http://schemas.openxmlformats.org/officeDocument/2006/relationships/slide" Target="/ppt/slides/slide8.xml" Id="Rce2ac3feca9d45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7080ee3bf340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c3e6cd79b84158" /><Relationship Type="http://schemas.openxmlformats.org/officeDocument/2006/relationships/notesMaster" Target="/ppt/notesMasters/notesMaster1.xml" Id="R764c0bcd1e4d48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cb76bc509c4e9f" /><Relationship Type="http://schemas.openxmlformats.org/officeDocument/2006/relationships/notesMaster" Target="/ppt/notesMasters/notesMaster1.xml" Id="Rf631a8fb25874d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767df2372744ef" /><Relationship Type="http://schemas.openxmlformats.org/officeDocument/2006/relationships/notesMaster" Target="/ppt/notesMasters/notesMaster1.xml" Id="Rdf430fac3eac42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88fa42392d43a2" /><Relationship Type="http://schemas.openxmlformats.org/officeDocument/2006/relationships/notesMaster" Target="/ppt/notesMasters/notesMaster1.xml" Id="R32375c2ef2994c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763f061e5c474f" /><Relationship Type="http://schemas.openxmlformats.org/officeDocument/2006/relationships/notesMaster" Target="/ppt/notesMasters/notesMaster1.xml" Id="R93382989907540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8dcf3567dd4aae" /><Relationship Type="http://schemas.openxmlformats.org/officeDocument/2006/relationships/notesMaster" Target="/ppt/notesMasters/notesMaster1.xml" Id="R63cee6cb9dd644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7b9635d6b849f0" /><Relationship Type="http://schemas.openxmlformats.org/officeDocument/2006/relationships/notesMaster" Target="/ppt/notesMasters/notesMaster1.xml" Id="Rd7dd9c8440604c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47dc411f7a4fe1" /><Relationship Type="http://schemas.openxmlformats.org/officeDocument/2006/relationships/notesMaster" Target="/ppt/notesMasters/notesMaster1.xml" Id="R5583ddd525a543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Eudila es un proyecto web de registro emocional en desarrollo.</a:t>
            </a:r>
          </a:p>
          <a:p xmlns:a="http://schemas.openxmlformats.org/drawingml/2006/main">
            <a:r>
              <a:t>Fuente: PRODUCT.md y DESIGN.md del repositorio Eudila.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registrar ánimo, emoción y factores con poca fricción.</a:t>
            </a:r>
          </a:p>
          <a:p xmlns:a="http://schemas.openxmlformats.org/drawingml/2006/main">
            <a:r>
              <a:t>Fuente: PRODUCT.md; DESIGN.md.</a:t>
            </a:r>
          </a:p>
          <a:p xmlns:a="http://schemas.openxmlformats.org/drawingml/2006/main">
            <a:r>
              <a:t>Imagen: recorte de docs/design/evidence/mascota-momentos-2026-10-24/saludo.png.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recorrido actual tiene cinco pasos: tipo, ánimo, emoción, factores y confirmación.</a:t>
            </a:r>
          </a:p>
          <a:p xmlns:a="http://schemas.openxmlformats.org/drawingml/2006/main">
            <a:r>
              <a:t>Fuente: README.md y rutas app/registro del repositorio.</a:t>
            </a:r>
          </a:p>
          <a:p xmlns:a="http://schemas.openxmlformats.org/drawingml/2006/main">
            <a:r>
              <a:t>Imagen: landing/assets/app-registro.png, captura real de la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escala va de Muy desagradable a Muy agradable y conserva siete niveles.</a:t>
            </a:r>
          </a:p>
          <a:p xmlns:a="http://schemas.openxmlformats.org/drawingml/2006/main">
            <a:r>
              <a:t>Fuente: DESIGN.md; docs/design/mascota/README.md.</a:t>
            </a:r>
          </a:p>
          <a:p xmlns:a="http://schemas.openxmlformats.org/drawingml/2006/main">
            <a:r>
              <a:t>Imagen: docs/design/evidence/mascota-animo-2026-10-24/neutral-390.png.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vistas de evolución y factores son descriptivas y no clínicas.</a:t>
            </a:r>
          </a:p>
          <a:p xmlns:a="http://schemas.openxmlformats.org/drawingml/2006/main">
            <a:r>
              <a:t>El modo de vista previa permite exportar PDF, CSV y JSON en el navegador.</a:t>
            </a:r>
          </a:p>
          <a:p xmlns:a="http://schemas.openxmlformats.org/drawingml/2006/main">
            <a:r>
              <a:t>Fuente: PRODUCT.md y README.md, secciones Frontend completo, Evolución y factores.</a:t>
            </a:r>
          </a:p>
          <a:p xmlns:a="http://schemas.openxmlformats.org/drawingml/2006/main">
            <a:r>
              <a:t>Imagen: landing/assets/app-hoy.png; incluye un ejemplo ficticio identificado.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generación local de archivos no equivale a ausencia de almacenamiento remoto en una futura cuenta.</a:t>
            </a:r>
          </a:p>
          <a:p xmlns:a="http://schemas.openxmlformats.org/drawingml/2006/main">
            <a:r>
              <a:t>La Ayuda offline requiere una primera carga online; una llamada necesita señal telefónica.</a:t>
            </a:r>
          </a:p>
          <a:p xmlns:a="http://schemas.openxmlformats.org/drawingml/2006/main">
            <a:r>
              <a:t>Eudila no realiza diagnósticos ni reemplaza atención profesional.</a:t>
            </a:r>
          </a:p>
          <a:p xmlns:a="http://schemas.openxmlformats.org/drawingml/2006/main">
            <a:r>
              <a:t>Fuente: PRODUCT.md, README.md y docs/content/ayuda.md.</a:t>
            </a:r>
          </a:p>
          <a:p xmlns:a="http://schemas.openxmlformats.org/drawingml/2006/main">
            <a:r>
              <a:t>Imagen: recorte de docs/design/evidence/mascota-consistencia-2026-10-24/accion-coral.png.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autenticación no implica todavía sincronización de registros emocionales.</a:t>
            </a:r>
          </a:p>
          <a:p xmlns:a="http://schemas.openxmlformats.org/drawingml/2006/main">
            <a:r>
              <a:t>Google requiere credenciales OAuth configuradas.</a:t>
            </a:r>
          </a:p>
          <a:p xmlns:a="http://schemas.openxmlformats.org/drawingml/2006/main">
            <a:r>
              <a:t>La revisión clínica profesional de textos sigue pendiente.</a:t>
            </a:r>
          </a:p>
          <a:p xmlns:a="http://schemas.openxmlformats.org/drawingml/2006/main">
            <a:r>
              <a:t>Fuente: PRODUCT.md y README.md.</a:t>
            </a:r>
          </a:p>
          <a:p xmlns:a="http://schemas.openxmlformats.org/drawingml/2006/main">
            <a:r>
              <a:t>Imagen: recorte de docs/design/evidence/mascota-consistencia-2026-10-24/mascota-coral.png.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Visión del producto basada en los objetivos documentados, sin propuesta comercial.</a:t>
            </a:r>
          </a:p>
          <a:p xmlns:a="http://schemas.openxmlformats.org/drawingml/2006/main">
            <a:r>
              <a:t>Diario, sueño, fotos y logros permanecen en backlog.</a:t>
            </a:r>
          </a:p>
          <a:p xmlns:a="http://schemas.openxmlformats.org/drawingml/2006/main">
            <a:r>
              <a:t>Fuente: PRODUCT.md; README.md; GitHub Eudila/eudila.</a:t>
            </a:r>
          </a:p>
          <a:p xmlns:a="http://schemas.openxmlformats.org/drawingml/2006/main">
            <a:r>
              <a:t>Imagen: docs/design/evidence/mascota-logo-2026-10-24/icono-app-512.png.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09bb35590f47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b57983efe40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bdf91b7a7045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8c6e4612aa4e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372992c9684ae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bd17b7ec6641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0F6018-2466-46C6-AA99-411AF9F360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920A769-086E-422C-9B9F-57155901DC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014A102-BBB4-4BD5-9A2A-49D9658274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9C5ECD-48E5-45DC-8022-D1CFBB422C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C9D903-2261-4AEF-BF34-8ED8BC0FF1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137B7DA-7757-4C57-AF7E-A443792E8A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9900AE-64C1-42A9-87CB-FE1511AD69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A1640AC-7B63-45D3-83C9-5833989A8B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2CC6EB-9306-463D-81A0-BBCACE4BC7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5CA696-9F04-4A2C-8C0B-477EACB73B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cdc1f9c85f400a" /><Relationship Type="http://schemas.openxmlformats.org/officeDocument/2006/relationships/slideLayout" Target="/ppt/slideLayouts/slideLayout1.xml" Id="R00f788dab261497f" /><Relationship Type="http://schemas.openxmlformats.org/officeDocument/2006/relationships/slideLayout" Target="/ppt/slideLayouts/slideLayout2.xml" Id="Ra66519ccc79143f1" /><Relationship Type="http://schemas.openxmlformats.org/officeDocument/2006/relationships/slideLayout" Target="/ppt/slideLayouts/slideLayout3.xml" Id="Rb2419462fc494fd5" /><Relationship Type="http://schemas.openxmlformats.org/officeDocument/2006/relationships/slideLayout" Target="/ppt/slideLayouts/slideLayout4.xml" Id="Re54557392a744189" /><Relationship Type="http://schemas.openxmlformats.org/officeDocument/2006/relationships/slideLayout" Target="/ppt/slideLayouts/slideLayout5.xml" Id="R10ff8a7db0bd43c7" /><Relationship Type="http://schemas.openxmlformats.org/officeDocument/2006/relationships/slideLayout" Target="/ppt/slideLayouts/slideLayout6.xml" Id="R69936b4bd18047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f788dab261497f"/>
    <p:sldLayoutId xmlns:r="http://schemas.openxmlformats.org/officeDocument/2006/relationships" id="2147483650" r:id="Ra66519ccc79143f1"/>
    <p:sldLayoutId xmlns:r="http://schemas.openxmlformats.org/officeDocument/2006/relationships" id="2147483651" r:id="Rb2419462fc494fd5"/>
    <p:sldLayoutId xmlns:r="http://schemas.openxmlformats.org/officeDocument/2006/relationships" id="2147483652" r:id="Re54557392a744189"/>
    <p:sldLayoutId xmlns:r="http://schemas.openxmlformats.org/officeDocument/2006/relationships" id="2147483653" r:id="R10ff8a7db0bd43c7"/>
    <p:sldLayoutId xmlns:r="http://schemas.openxmlformats.org/officeDocument/2006/relationships" id="2147483654" r:id="R69936b4bd18047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84761fe97847ef" /><Relationship Type="http://schemas.openxmlformats.org/officeDocument/2006/relationships/image" Target="/ppt/media/image.png" Id="Ra9a6c380fc364fb7" /><Relationship Type="http://schemas.openxmlformats.org/officeDocument/2006/relationships/notesSlide" Target="/ppt/notesSlides/notesSlide1.xml" Id="R91c1bcb613f54e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2283f08d5c4d9f" /><Relationship Type="http://schemas.openxmlformats.org/officeDocument/2006/relationships/image" Target="/ppt/media/image2.png" Id="Rb89c0f018bd14c7c" /><Relationship Type="http://schemas.openxmlformats.org/officeDocument/2006/relationships/notesSlide" Target="/ppt/notesSlides/notesSlide2.xml" Id="Ra29942b35b4b47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488c09d1ff419c" /><Relationship Type="http://schemas.openxmlformats.org/officeDocument/2006/relationships/image" Target="/ppt/media/image3.png" Id="Rb8ceba73f6fd41ef" /><Relationship Type="http://schemas.openxmlformats.org/officeDocument/2006/relationships/notesSlide" Target="/ppt/notesSlides/notesSlide3.xml" Id="R4aabaaad160449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33b95eaecb4bbd" /><Relationship Type="http://schemas.openxmlformats.org/officeDocument/2006/relationships/image" Target="/ppt/media/image4.png" Id="R38771c19ec8d43af" /><Relationship Type="http://schemas.openxmlformats.org/officeDocument/2006/relationships/notesSlide" Target="/ppt/notesSlides/notesSlide4.xml" Id="R9fc40b80a1f640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6765d0859c4928" /><Relationship Type="http://schemas.openxmlformats.org/officeDocument/2006/relationships/image" Target="/ppt/media/image5.png" Id="R5637e03520c54d2c" /><Relationship Type="http://schemas.openxmlformats.org/officeDocument/2006/relationships/notesSlide" Target="/ppt/notesSlides/notesSlide5.xml" Id="Rd8924dab46eb4e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a427ef50d840b6" /><Relationship Type="http://schemas.openxmlformats.org/officeDocument/2006/relationships/image" Target="/ppt/media/image6.png" Id="R96456ca7ec274ce1" /><Relationship Type="http://schemas.openxmlformats.org/officeDocument/2006/relationships/notesSlide" Target="/ppt/notesSlides/notesSlide6.xml" Id="R13cbe3ca12704e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bfb18c0aab4ee7" /><Relationship Type="http://schemas.openxmlformats.org/officeDocument/2006/relationships/image" Target="/ppt/media/image7.png" Id="R1cff2cd7fb114bf3" /><Relationship Type="http://schemas.openxmlformats.org/officeDocument/2006/relationships/notesSlide" Target="/ppt/notesSlides/notesSlide7.xml" Id="R5ef6aa40426f44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cfcc76e5cd47f2" /><Relationship Type="http://schemas.openxmlformats.org/officeDocument/2006/relationships/image" Target="/ppt/media/image8.png" Id="R09f7711a59644211" /><Relationship Type="http://schemas.openxmlformats.org/officeDocument/2006/relationships/notesSlide" Target="/ppt/notesSlides/notesSlide8.xml" Id="R7073dc961cab43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80089-7EFA-4B38-B8CF-22DC3FD2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68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585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585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585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585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585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585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585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585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585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585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5850" b="1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eudila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1C653-27D2-4AF4-847D-CCBEC518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895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1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663F2-476F-490B-A287-4CDFDB96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5524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315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315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315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315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315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315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315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315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315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3150" b="1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Un espejo tranquilo para</a:t>
            </a:r>
          </a:p>
          <a:p xmlns:a="http://schemas.openxmlformats.org/drawingml/2006/main">
            <a:pPr>
              <a:defRPr sz="315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3150" b="1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cada estado de ánimo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D815F-BDC2-4ECA-B918-2565B78C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581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defPPr>
            <a:lvl1pPr>
              <a:defRPr sz="172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1pPr>
            <a:lvl2pPr>
              <a:defRPr sz="172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2pPr>
            <a:lvl3pPr>
              <a:defRPr sz="172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3pPr>
            <a:lvl4pPr>
              <a:defRPr sz="172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4pPr>
            <a:lvl5pPr>
              <a:defRPr sz="172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5pPr>
            <a:lvl6pPr>
              <a:defRPr sz="172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6pPr>
            <a:lvl7pPr>
              <a:defRPr sz="172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7pPr>
            <a:lvl8pPr>
              <a:defRPr sz="172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8pPr>
            <a:lvl9pPr>
              <a:defRPr sz="172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pPr>
            <a:r>
              <a:rPr sz="1725" b="0">
                <a:solidFill>
                  <a:srgbClr val="DAD5EA"/>
                </a:solidFill>
                <a:latin typeface="Figtree"/>
                <a:ea typeface="Figtree"/>
                <a:cs typeface="Figtree"/>
              </a:rPr>
              <a:t>Una app abierta para registrar cómo te sentís, reconocer lo que influye en tu día y llevar más contexto a una conversación de cuidado.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A2CE7-6524-408A-9439-D62FCD93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AEA7C3"/>
                </a:solidFill>
                <a:latin typeface="Figtree"/>
                <a:ea typeface="Figtree"/>
                <a:cs typeface="Figtree"/>
              </a:defRPr>
            </a:defPPr>
            <a:lvl1pPr>
              <a:defRPr sz="1200" b="0">
                <a:solidFill>
                  <a:srgbClr val="AEA7C3"/>
                </a:solidFill>
                <a:latin typeface="Figtree"/>
                <a:ea typeface="Figtree"/>
                <a:cs typeface="Figtree"/>
              </a:defRPr>
            </a:lvl1pPr>
            <a:lvl2pPr>
              <a:defRPr sz="1200" b="0">
                <a:solidFill>
                  <a:srgbClr val="AEA7C3"/>
                </a:solidFill>
                <a:latin typeface="Figtree"/>
                <a:ea typeface="Figtree"/>
                <a:cs typeface="Figtree"/>
              </a:defRPr>
            </a:lvl2pPr>
            <a:lvl3pPr>
              <a:defRPr sz="1200" b="0">
                <a:solidFill>
                  <a:srgbClr val="AEA7C3"/>
                </a:solidFill>
                <a:latin typeface="Figtree"/>
                <a:ea typeface="Figtree"/>
                <a:cs typeface="Figtree"/>
              </a:defRPr>
            </a:lvl3pPr>
            <a:lvl4pPr>
              <a:defRPr sz="1200" b="0">
                <a:solidFill>
                  <a:srgbClr val="AEA7C3"/>
                </a:solidFill>
                <a:latin typeface="Figtree"/>
                <a:ea typeface="Figtree"/>
                <a:cs typeface="Figtree"/>
              </a:defRPr>
            </a:lvl4pPr>
            <a:lvl5pPr>
              <a:defRPr sz="1200" b="0">
                <a:solidFill>
                  <a:srgbClr val="AEA7C3"/>
                </a:solidFill>
                <a:latin typeface="Figtree"/>
                <a:ea typeface="Figtree"/>
                <a:cs typeface="Figtree"/>
              </a:defRPr>
            </a:lvl5pPr>
            <a:lvl6pPr>
              <a:defRPr sz="1200" b="0">
                <a:solidFill>
                  <a:srgbClr val="AEA7C3"/>
                </a:solidFill>
                <a:latin typeface="Figtree"/>
                <a:ea typeface="Figtree"/>
                <a:cs typeface="Figtree"/>
              </a:defRPr>
            </a:lvl6pPr>
            <a:lvl7pPr>
              <a:defRPr sz="1200" b="0">
                <a:solidFill>
                  <a:srgbClr val="AEA7C3"/>
                </a:solidFill>
                <a:latin typeface="Figtree"/>
                <a:ea typeface="Figtree"/>
                <a:cs typeface="Figtree"/>
              </a:defRPr>
            </a:lvl7pPr>
            <a:lvl8pPr>
              <a:defRPr sz="1200" b="0">
                <a:solidFill>
                  <a:srgbClr val="AEA7C3"/>
                </a:solidFill>
                <a:latin typeface="Figtree"/>
                <a:ea typeface="Figtree"/>
                <a:cs typeface="Figtree"/>
              </a:defRPr>
            </a:lvl8pPr>
            <a:lvl9pPr>
              <a:defRPr sz="1200" b="0">
                <a:solidFill>
                  <a:srgbClr val="AEA7C3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EA7C3"/>
                </a:solidFill>
                <a:latin typeface="Figtree"/>
                <a:ea typeface="Figtree"/>
                <a:cs typeface="Figtree"/>
              </a:defRPr>
            </a:pPr>
            <a:r>
              <a:rPr sz="1200" b="0">
                <a:solidFill>
                  <a:srgbClr val="AEA7C3"/>
                </a:solidFill>
                <a:latin typeface="Figtree"/>
                <a:ea typeface="Figtree"/>
                <a:cs typeface="Figtree"/>
              </a:rPr>
              <a:t>Presentación general · Octubre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AB19F-9661-49B5-9059-709B50B11E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6c380fc364fb7"/>
          <a:stretch xmlns:a="http://schemas.openxmlformats.org/drawingml/2006/main"/>
        </p:blipFill>
        <p:spPr>
          <a:xfrm xmlns:a="http://schemas.openxmlformats.org/drawingml/2006/main">
            <a:off x="7239000" y="990600"/>
            <a:ext cx="4000500" cy="400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198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A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EA018-BD70-4246-8A7E-E35A59CF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125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96822-1821-499F-932B-D3096239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3225" b="1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Un registro breve para entender el día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CF580-5120-448D-8758-78446A56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1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3D2B6-F673-4ECB-9CF7-809CE036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defPPr>
            <a:lvl1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1pPr>
            <a:lvl2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2pPr>
            <a:lvl3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3pPr>
            <a:lvl4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4pPr>
            <a:lvl5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5pPr>
            <a:lvl6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6pPr>
            <a:lvl7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7pPr>
            <a:lvl8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8pPr>
            <a:lvl9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pPr>
            <a:r>
              <a:rPr sz="1575" b="0">
                <a:solidFill>
                  <a:srgbClr val="DAD5EA"/>
                </a:solidFill>
                <a:latin typeface="Figtree"/>
                <a:ea typeface="Figtree"/>
                <a:cs typeface="Figtree"/>
              </a:rPr>
              <a:t>Eudila propone una pausa simple, con lenguaje cotidiano y sin juzgar lo que aparece.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4E8F3-4FE4-4721-B531-AB85BE63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91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275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eudila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E571C-96F3-4EF8-8C8D-CC7E8EE3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240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240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240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240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240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240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240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240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240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2400" b="1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Muchas veces el ánimo queda reducido a “bien” o “mal”.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2E4B4-AFCE-4A08-8300-D8DF6010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4476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defPPr>
            <a:lvl1pPr>
              <a:defRPr sz="172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1pPr>
            <a:lvl2pPr>
              <a:defRPr sz="172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2pPr>
            <a:lvl3pPr>
              <a:defRPr sz="172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3pPr>
            <a:lvl4pPr>
              <a:defRPr sz="172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4pPr>
            <a:lvl5pPr>
              <a:defRPr sz="172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5pPr>
            <a:lvl6pPr>
              <a:defRPr sz="172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6pPr>
            <a:lvl7pPr>
              <a:defRPr sz="172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7pPr>
            <a:lvl8pPr>
              <a:defRPr sz="172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8pPr>
            <a:lvl9pPr>
              <a:defRPr sz="172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pPr>
            <a:r>
              <a:rPr sz="1725" b="0">
                <a:solidFill>
                  <a:srgbClr val="DAD5EA"/>
                </a:solidFill>
                <a:latin typeface="Figtree"/>
                <a:ea typeface="Figtree"/>
                <a:cs typeface="Figtree"/>
              </a:rPr>
              <a:t>La app ayuda a ponerle un nombre al estado, reconocer una emoción y anotar qué factores pudieron influir.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9A322-4B73-4BFD-A28B-94EA3F47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15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15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15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15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15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15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15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15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15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575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El resultado es un registro propio que se puede volver a mirar con calma.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CCC19-6136-4D66-9458-4BB4F2073B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c0f018bd14c7c"/>
          <a:srcRect xmlns:a="http://schemas.openxmlformats.org/drawingml/2006/main" l="50000" t="0" r="25000" b="20000"/>
          <a:stretch xmlns:a="http://schemas.openxmlformats.org/drawingml/2006/main"/>
        </p:blipFill>
        <p:spPr>
          <a:xfrm xmlns:a="http://schemas.openxmlformats.org/drawingml/2006/main">
            <a:off x="7239000" y="2286000"/>
            <a:ext cx="342900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47408-51F4-4C11-A930-D38E4569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055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AEA7C3"/>
                </a:solidFill>
                <a:latin typeface="Figtree"/>
                <a:ea typeface="Figtree"/>
                <a:cs typeface="Figtree"/>
              </a:defRPr>
            </a:defPPr>
            <a:lvl1pPr>
              <a:defRPr sz="1275" b="0">
                <a:solidFill>
                  <a:srgbClr val="AEA7C3"/>
                </a:solidFill>
                <a:latin typeface="Figtree"/>
                <a:ea typeface="Figtree"/>
                <a:cs typeface="Figtree"/>
              </a:defRPr>
            </a:lvl1pPr>
            <a:lvl2pPr>
              <a:defRPr sz="1275" b="0">
                <a:solidFill>
                  <a:srgbClr val="AEA7C3"/>
                </a:solidFill>
                <a:latin typeface="Figtree"/>
                <a:ea typeface="Figtree"/>
                <a:cs typeface="Figtree"/>
              </a:defRPr>
            </a:lvl2pPr>
            <a:lvl3pPr>
              <a:defRPr sz="1275" b="0">
                <a:solidFill>
                  <a:srgbClr val="AEA7C3"/>
                </a:solidFill>
                <a:latin typeface="Figtree"/>
                <a:ea typeface="Figtree"/>
                <a:cs typeface="Figtree"/>
              </a:defRPr>
            </a:lvl3pPr>
            <a:lvl4pPr>
              <a:defRPr sz="1275" b="0">
                <a:solidFill>
                  <a:srgbClr val="AEA7C3"/>
                </a:solidFill>
                <a:latin typeface="Figtree"/>
                <a:ea typeface="Figtree"/>
                <a:cs typeface="Figtree"/>
              </a:defRPr>
            </a:lvl4pPr>
            <a:lvl5pPr>
              <a:defRPr sz="1275" b="0">
                <a:solidFill>
                  <a:srgbClr val="AEA7C3"/>
                </a:solidFill>
                <a:latin typeface="Figtree"/>
                <a:ea typeface="Figtree"/>
                <a:cs typeface="Figtree"/>
              </a:defRPr>
            </a:lvl5pPr>
            <a:lvl6pPr>
              <a:defRPr sz="1275" b="0">
                <a:solidFill>
                  <a:srgbClr val="AEA7C3"/>
                </a:solidFill>
                <a:latin typeface="Figtree"/>
                <a:ea typeface="Figtree"/>
                <a:cs typeface="Figtree"/>
              </a:defRPr>
            </a:lvl6pPr>
            <a:lvl7pPr>
              <a:defRPr sz="1275" b="0">
                <a:solidFill>
                  <a:srgbClr val="AEA7C3"/>
                </a:solidFill>
                <a:latin typeface="Figtree"/>
                <a:ea typeface="Figtree"/>
                <a:cs typeface="Figtree"/>
              </a:defRPr>
            </a:lvl7pPr>
            <a:lvl8pPr>
              <a:defRPr sz="1275" b="0">
                <a:solidFill>
                  <a:srgbClr val="AEA7C3"/>
                </a:solidFill>
                <a:latin typeface="Figtree"/>
                <a:ea typeface="Figtree"/>
                <a:cs typeface="Figtree"/>
              </a:defRPr>
            </a:lvl8pPr>
            <a:lvl9pPr>
              <a:defRPr sz="1275" b="0">
                <a:solidFill>
                  <a:srgbClr val="AEA7C3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EA7C3"/>
                </a:solidFill>
                <a:latin typeface="Figtree"/>
                <a:ea typeface="Figtree"/>
                <a:cs typeface="Figtree"/>
              </a:defRPr>
            </a:pPr>
            <a:r>
              <a:rPr sz="1275" b="0">
                <a:solidFill>
                  <a:srgbClr val="AEA7C3"/>
                </a:solidFill>
                <a:latin typeface="Figtree"/>
                <a:ea typeface="Figtree"/>
                <a:cs typeface="Figtree"/>
              </a:rPr>
              <a:t>Una presencia serena acompaña la pregunta.</a:t>
            </a:r>
          </a:p>
        </p:txBody>
      </p:sp>
    </p:spTree>
    <p:extLst>
      <p:ext uri="{BB962C8B-B14F-4D97-AF65-F5344CB8AC3E}">
        <p14:creationId xmlns:p14="http://schemas.microsoft.com/office/powerpoint/2010/main" val="327135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A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48B888-76E7-4EBC-B1CB-A4ED9ED2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125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594C7-BEFB-4B75-8199-F7965092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3225" b="1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El recorrido de un registro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E16C3-3AA1-4955-A273-FDEA8554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1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1F429-8CE5-4431-8E65-F00706B7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defPPr>
            <a:lvl1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1pPr>
            <a:lvl2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2pPr>
            <a:lvl3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3pPr>
            <a:lvl4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4pPr>
            <a:lvl5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5pPr>
            <a:lvl6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6pPr>
            <a:lvl7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7pPr>
            <a:lvl8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8pPr>
            <a:lvl9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pPr>
            <a:r>
              <a:rPr sz="1575" b="0">
                <a:solidFill>
                  <a:srgbClr val="DAD5EA"/>
                </a:solidFill>
                <a:latin typeface="Figtree"/>
                <a:ea typeface="Figtree"/>
                <a:cs typeface="Figtree"/>
              </a:rPr>
              <a:t>Una pregunta principal por pantalla mantiene el foco y reduce la carga del momento.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7BB55-D46A-490E-807D-29FF707B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91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275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eudila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950D4-35D6-40A9-98CB-E4B6E5FA61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eba73f6fd41ef"/>
          <a:srcRect xmlns:a="http://schemas.openxmlformats.org/drawingml/2006/main" l="0" t="6000" r="0" b="41000"/>
          <a:stretch xmlns:a="http://schemas.openxmlformats.org/drawingml/2006/main"/>
        </p:blipFill>
        <p:spPr>
          <a:xfrm xmlns:a="http://schemas.openxmlformats.org/drawingml/2006/main">
            <a:off x="895350" y="2171700"/>
            <a:ext cx="3714750" cy="417195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0B8ED-A326-4AA2-81FE-54B1B9C3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500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0695F-EFAB-46C9-AC0B-0A82D1EA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47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1725" b="1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Momento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44FB3-B191-47C9-BDD6-3FFE69CA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52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defPPr>
            <a:lvl1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1pPr>
            <a:lvl2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2pPr>
            <a:lvl3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3pPr>
            <a:lvl4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4pPr>
            <a:lvl5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5pPr>
            <a:lvl6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6pPr>
            <a:lvl7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7pPr>
            <a:lvl8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8pPr>
            <a:lvl9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pPr>
            <a:r>
              <a:rPr sz="1350" b="0">
                <a:solidFill>
                  <a:srgbClr val="DAD5EA"/>
                </a:solidFill>
                <a:latin typeface="Figtree"/>
                <a:ea typeface="Figtree"/>
                <a:cs typeface="Figtree"/>
              </a:rPr>
              <a:t>Mañana, tarde, noche o registro libre.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7509E-195E-4D8B-A06C-6BE20E32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500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B640E-BA36-4CF9-9113-F5AFF450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289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1725" b="1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Ánimo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5FDF7-37B4-4D5C-AB02-4E49DFE5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33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defPPr>
            <a:lvl1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1pPr>
            <a:lvl2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2pPr>
            <a:lvl3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3pPr>
            <a:lvl4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4pPr>
            <a:lvl5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5pPr>
            <a:lvl6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6pPr>
            <a:lvl7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7pPr>
            <a:lvl8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8pPr>
            <a:lvl9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pPr>
            <a:r>
              <a:rPr sz="1350" b="0">
                <a:solidFill>
                  <a:srgbClr val="DAD5EA"/>
                </a:solidFill>
                <a:latin typeface="Figtree"/>
                <a:ea typeface="Figtree"/>
                <a:cs typeface="Figtree"/>
              </a:rPr>
              <a:t>Una escala continua de siete estados.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ED4E9-CDBE-4EFE-ABD1-6241A036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500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2B332-31AC-4C8D-9D8A-E7CD7BA3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100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1725" b="1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Emoción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65776-A9FA-4093-9FD9-92622B2E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defPPr>
            <a:lvl1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1pPr>
            <a:lvl2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2pPr>
            <a:lvl3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3pPr>
            <a:lvl4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4pPr>
            <a:lvl5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5pPr>
            <a:lvl6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6pPr>
            <a:lvl7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7pPr>
            <a:lvl8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8pPr>
            <a:lvl9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pPr>
            <a:r>
              <a:rPr sz="1350" b="0">
                <a:solidFill>
                  <a:srgbClr val="DAD5EA"/>
                </a:solidFill>
                <a:latin typeface="Figtree"/>
                <a:ea typeface="Figtree"/>
                <a:cs typeface="Figtree"/>
              </a:rPr>
              <a:t>Una palabra que ayude a precisar lo sentido.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B5EB3-0680-42A9-82FC-9B0BFE39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01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500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DC628-205D-4DC5-A0C1-E5C05D95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910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1725" b="1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Factores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F56842-491A-420A-AF61-3E445CA3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958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defPPr>
            <a:lvl1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1pPr>
            <a:lvl2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2pPr>
            <a:lvl3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3pPr>
            <a:lvl4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4pPr>
            <a:lvl5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5pPr>
            <a:lvl6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6pPr>
            <a:lvl7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7pPr>
            <a:lvl8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8pPr>
            <a:lvl9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pPr>
            <a:r>
              <a:rPr sz="1350" b="0">
                <a:solidFill>
                  <a:srgbClr val="DAD5EA"/>
                </a:solidFill>
                <a:latin typeface="Figtree"/>
                <a:ea typeface="Figtree"/>
                <a:cs typeface="Figtree"/>
              </a:rPr>
              <a:t>Uno, varios o ninguno, según la experiencia del día.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E4FD8-D3C5-483C-8CEF-0F153974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500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0A3D39-DC27-470C-8138-7ACB03AE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72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1725" b="1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Revisión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7C3B80-C0B7-46FB-9225-1C131F9D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769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defPPr>
            <a:lvl1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1pPr>
            <a:lvl2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2pPr>
            <a:lvl3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3pPr>
            <a:lvl4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4pPr>
            <a:lvl5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5pPr>
            <a:lvl6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6pPr>
            <a:lvl7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7pPr>
            <a:lvl8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8pPr>
            <a:lvl9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pPr>
            <a:r>
              <a:rPr sz="1350" b="0">
                <a:solidFill>
                  <a:srgbClr val="DAD5EA"/>
                </a:solidFill>
                <a:latin typeface="Figtree"/>
                <a:ea typeface="Figtree"/>
                <a:cs typeface="Figtree"/>
              </a:rPr>
              <a:t>La persona confirma el registro antes de guardarlo.</a:t>
            </a:r>
          </a:p>
        </p:txBody>
      </p:sp>
    </p:spTree>
    <p:extLst>
      <p:ext uri="{BB962C8B-B14F-4D97-AF65-F5344CB8AC3E}">
        <p14:creationId xmlns:p14="http://schemas.microsoft.com/office/powerpoint/2010/main" val="11027678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A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BCCE5-1EC3-408D-A292-4C7844A1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125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8A487-38DF-49DE-A95C-60A7A891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3225" b="1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Siete estados, sin respuestas correctas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356ED-D1CC-4EB9-A913-482C7A34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1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C202D-DFB0-4444-A7E3-F36BC9FC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defPPr>
            <a:lvl1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1pPr>
            <a:lvl2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2pPr>
            <a:lvl3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3pPr>
            <a:lvl4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4pPr>
            <a:lvl5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5pPr>
            <a:lvl6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6pPr>
            <a:lvl7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7pPr>
            <a:lvl8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8pPr>
            <a:lvl9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pPr>
            <a:r>
              <a:rPr sz="1575" b="0">
                <a:solidFill>
                  <a:srgbClr val="DAD5EA"/>
                </a:solidFill>
                <a:latin typeface="Figtree"/>
                <a:ea typeface="Figtree"/>
                <a:cs typeface="Figtree"/>
              </a:rPr>
              <a:t>El orbe cambia de forma y color para acompañar matices sin convertirlos en categorías clínicas.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64DE1-C6CE-4749-B298-4ACEAE5A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91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275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eudila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5B86F-EDC2-46B9-AC03-ECE6C92D9B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71c19ec8d43af"/>
          <a:srcRect xmlns:a="http://schemas.openxmlformats.org/drawingml/2006/main" l="0" t="3000" r="0" b="39000"/>
          <a:stretch xmlns:a="http://schemas.openxmlformats.org/drawingml/2006/main"/>
        </p:blipFill>
        <p:spPr>
          <a:xfrm xmlns:a="http://schemas.openxmlformats.org/drawingml/2006/main">
            <a:off x="857250" y="2266950"/>
            <a:ext cx="3429000" cy="40005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0CD8B-6F4E-4A7A-AF50-702ED541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2325" b="1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Una escala con matices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E5170-5A54-4B67-A36B-AA7D4332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28575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17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17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17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17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17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17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17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17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17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725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Muy desagradable</a:t>
            </a:r>
          </a:p>
          <a:p xmlns:a="http://schemas.openxmlformats.org/drawingml/2006/main">
            <a:pPr>
              <a:defRPr sz="17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725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Desagradable</a:t>
            </a:r>
          </a:p>
          <a:p xmlns:a="http://schemas.openxmlformats.org/drawingml/2006/main">
            <a:pPr>
              <a:defRPr sz="17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725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Algo desagradable</a:t>
            </a:r>
          </a:p>
          <a:p xmlns:a="http://schemas.openxmlformats.org/drawingml/2006/main">
            <a:pPr>
              <a:defRPr sz="17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725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Neutral</a:t>
            </a:r>
          </a:p>
          <a:p xmlns:a="http://schemas.openxmlformats.org/drawingml/2006/main">
            <a:pPr>
              <a:defRPr sz="17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725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Algo agradable</a:t>
            </a:r>
          </a:p>
          <a:p xmlns:a="http://schemas.openxmlformats.org/drawingml/2006/main">
            <a:pPr>
              <a:defRPr sz="17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725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Agradable</a:t>
            </a:r>
          </a:p>
          <a:p xmlns:a="http://schemas.openxmlformats.org/drawingml/2006/main">
            <a:pPr>
              <a:defRPr sz="17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725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Muy agradable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FB529-A415-46E5-A94C-7A0FB8BC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2857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defPPr>
            <a:lvl1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1pPr>
            <a:lvl2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2pPr>
            <a:lvl3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3pPr>
            <a:lvl4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4pPr>
            <a:lvl5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5pPr>
            <a:lvl6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6pPr>
            <a:lvl7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7pPr>
            <a:lvl8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8pPr>
            <a:lvl9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pPr>
            <a:r>
              <a:rPr sz="1575" b="0">
                <a:solidFill>
                  <a:srgbClr val="DAD5EA"/>
                </a:solidFill>
                <a:latin typeface="Figtree"/>
                <a:ea typeface="Figtree"/>
                <a:cs typeface="Figtree"/>
              </a:rPr>
              <a:t>Cada estado vale por sí mismo. La interfaz evita premiar los estados agradables o reprochar los difíciles.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62D93-84F4-4CAE-87ED-9AFF5F3E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9650"/>
            <a:ext cx="285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150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150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150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150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150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150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150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150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150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1500" b="0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La escala describe cómo se siente la persona. No funciona como una categoría clínica.</a:t>
            </a:r>
          </a:p>
        </p:txBody>
      </p:sp>
    </p:spTree>
    <p:extLst>
      <p:ext uri="{BB962C8B-B14F-4D97-AF65-F5344CB8AC3E}">
        <p14:creationId xmlns:p14="http://schemas.microsoft.com/office/powerpoint/2010/main" val="1716075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A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703D7-B06A-4E13-A261-46332E9B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125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1A63F-9128-43F4-B652-BED9B38E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3225" b="1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La información vuelve a la persona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14C29-6F1B-46C7-B4F6-AD66AA36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1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FEEB8-CD5B-49C9-BB62-A5A7AB9F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defPPr>
            <a:lvl1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1pPr>
            <a:lvl2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2pPr>
            <a:lvl3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3pPr>
            <a:lvl4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4pPr>
            <a:lvl5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5pPr>
            <a:lvl6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6pPr>
            <a:lvl7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7pPr>
            <a:lvl8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8pPr>
            <a:lvl9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pPr>
            <a:r>
              <a:rPr sz="1575" b="0">
                <a:solidFill>
                  <a:srgbClr val="DAD5EA"/>
                </a:solidFill>
                <a:latin typeface="Figtree"/>
                <a:ea typeface="Figtree"/>
                <a:cs typeface="Figtree"/>
              </a:rPr>
              <a:t>Los registros se organizan para consultar el día, el calendario y cambios observados a lo largo del tiempo.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4328A-2C18-48AA-B1FB-AC7C0197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91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275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eudila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BFF19-DE32-499E-BE00-7FFB032B30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7e03520c54d2c"/>
          <a:srcRect xmlns:a="http://schemas.openxmlformats.org/drawingml/2006/main" l="0" t="4000" r="0" b="61000"/>
          <a:stretch xmlns:a="http://schemas.openxmlformats.org/drawingml/2006/main"/>
        </p:blipFill>
        <p:spPr>
          <a:xfrm xmlns:a="http://schemas.openxmlformats.org/drawingml/2006/main">
            <a:off x="876300" y="2571750"/>
            <a:ext cx="3714750" cy="28575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C6848-1089-4E5A-B7E0-4756CDC0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62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2175" b="1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Hoy y calendario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258F6-7D5C-4FAD-85FA-44C1F949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38450"/>
            <a:ext cx="514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defPPr>
            <a:lvl1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1pPr>
            <a:lvl2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2pPr>
            <a:lvl3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3pPr>
            <a:lvl4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4pPr>
            <a:lvl5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5pPr>
            <a:lvl6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6pPr>
            <a:lvl7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7pPr>
            <a:lvl8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8pPr>
            <a:lvl9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pPr>
            <a:r>
              <a:rPr sz="1575" b="0">
                <a:solidFill>
                  <a:srgbClr val="DAD5EA"/>
                </a:solidFill>
                <a:latin typeface="Figtree"/>
                <a:ea typeface="Figtree"/>
                <a:cs typeface="Figtree"/>
              </a:rPr>
              <a:t>Permiten volver a cada registro y conservar el contexto de la fecha.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27013-D132-4448-AD2A-9ADF283A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29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2175" b="1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Evolución y factores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2AA56-86D2-485E-A984-13925483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053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defPPr>
            <a:lvl1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1pPr>
            <a:lvl2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2pPr>
            <a:lvl3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3pPr>
            <a:lvl4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4pPr>
            <a:lvl5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5pPr>
            <a:lvl6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6pPr>
            <a:lvl7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7pPr>
            <a:lvl8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8pPr>
            <a:lvl9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pPr>
            <a:r>
              <a:rPr sz="1575" b="0">
                <a:solidFill>
                  <a:srgbClr val="DAD5EA"/>
                </a:solidFill>
                <a:latin typeface="Figtree"/>
                <a:ea typeface="Figtree"/>
                <a:cs typeface="Figtree"/>
              </a:rPr>
              <a:t>Describen lo observado sin estimar días faltantes, inferir causas ni producir diagnósticos.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78E4C-C763-4830-B2BC-D910C116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53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2175" b="1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Exportación personal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02DDA-1E28-4F8A-8841-D7B7CF1D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29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1575" b="0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1575" b="0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1575" b="0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1575" b="0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1575" b="0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1575" b="0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1575" b="0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1575" b="0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1575" b="0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575" b="0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PDF para conversar y archivos CSV o JSON para llevarse el historial.</a:t>
            </a:r>
          </a:p>
        </p:txBody>
      </p:sp>
    </p:spTree>
    <p:extLst>
      <p:ext uri="{BB962C8B-B14F-4D97-AF65-F5344CB8AC3E}">
        <p14:creationId xmlns:p14="http://schemas.microsoft.com/office/powerpoint/2010/main" val="11396970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A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E5BE6-C642-4365-ABDD-3CF6AF02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125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4574-8374-4B7F-AF21-1102E2A3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3225" b="1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Privacidad, ayuda y límites claros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B9DEE-C142-4771-A357-5BC13B4A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1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70594-E27B-47E6-A9F9-2F084DFC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defPPr>
            <a:lvl1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1pPr>
            <a:lvl2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2pPr>
            <a:lvl3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3pPr>
            <a:lvl4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4pPr>
            <a:lvl5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5pPr>
            <a:lvl6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6pPr>
            <a:lvl7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7pPr>
            <a:lvl8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8pPr>
            <a:lvl9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pPr>
            <a:r>
              <a:rPr sz="1575" b="0">
                <a:solidFill>
                  <a:srgbClr val="DAD5EA"/>
                </a:solidFill>
                <a:latin typeface="Figtree"/>
                <a:ea typeface="Figtree"/>
                <a:cs typeface="Figtree"/>
              </a:rPr>
              <a:t>El diseño busca que la persona conserve el control y sepa qué puede esperar de la herramienta.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1A661-306E-48A4-AA58-FDF7FDAE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91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275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eudila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F3844-5F7C-4239-97D6-184D5524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2325" b="1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Datos propios y portables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59C05-E94C-4A6B-BD64-C4C54DB4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defPPr>
            <a:lvl1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1pPr>
            <a:lvl2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2pPr>
            <a:lvl3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3pPr>
            <a:lvl4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4pPr>
            <a:lvl5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5pPr>
            <a:lvl6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6pPr>
            <a:lvl7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7pPr>
            <a:lvl8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8pPr>
            <a:lvl9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pPr>
            <a:r>
              <a:rPr sz="1575" b="0">
                <a:solidFill>
                  <a:srgbClr val="DAD5EA"/>
                </a:solidFill>
                <a:latin typeface="Figtree"/>
                <a:ea typeface="Figtree"/>
                <a:cs typeface="Figtree"/>
              </a:rPr>
              <a:t>Las exportaciones se generan en el navegador. Esto evita un servidor adicional para producir los archivos, aunque una cuenta futura sí requerirá almacenamiento remoto seguro.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9EB52-DD31-4AD2-A38C-5C43B666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2325" b="1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Ayuda disponible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9193B-CBA2-4DB8-A27D-49B736D1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4953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defPPr>
            <a:lvl1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1pPr>
            <a:lvl2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2pPr>
            <a:lvl3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3pPr>
            <a:lvl4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4pPr>
            <a:lvl5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5pPr>
            <a:lvl6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6pPr>
            <a:lvl7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7pPr>
            <a:lvl8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8pPr>
            <a:lvl9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pPr>
            <a:r>
              <a:rPr sz="1575" b="0">
                <a:solidFill>
                  <a:srgbClr val="DAD5EA"/>
                </a:solidFill>
                <a:latin typeface="Figtree"/>
                <a:ea typeface="Figtree"/>
                <a:cs typeface="Figtree"/>
              </a:rPr>
              <a:t>La pantalla Ayuda ahora reúne teléfonos y puede consultarse sin conexión después de la primera carga. Las llamadas requieren señal telefónica.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BC7CD-B8B0-4D94-8BD4-F21885A4DC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56ca7ec274ce1"/>
          <a:srcRect xmlns:a="http://schemas.openxmlformats.org/drawingml/2006/main" l="25000" t="50000" r="50000" b="25000"/>
          <a:stretch xmlns:a="http://schemas.openxmlformats.org/drawingml/2006/main"/>
        </p:blipFill>
        <p:spPr>
          <a:xfrm xmlns:a="http://schemas.openxmlformats.org/drawingml/2006/main">
            <a:off x="6667500" y="2724150"/>
            <a:ext cx="4095750" cy="2724150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151B2-E038-408A-B7CE-03F3982F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275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Eudila no diagnostica, no evalúa riesgo individual y no reemplaza la atención profesional.</a:t>
            </a:r>
          </a:p>
        </p:txBody>
      </p:sp>
    </p:spTree>
    <p:extLst>
      <p:ext uri="{BB962C8B-B14F-4D97-AF65-F5344CB8AC3E}">
        <p14:creationId xmlns:p14="http://schemas.microsoft.com/office/powerpoint/2010/main" val="14361773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A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5934E-FE9C-43F2-8862-133F73D7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125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B8E0E-4854-493C-A5D4-50A59FB0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3225" b="1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Dónde estamos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D2D7E-737D-4C1B-942B-2C1A64C4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1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D4063-04DA-462D-9EE7-479F42F3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defPPr>
            <a:lvl1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1pPr>
            <a:lvl2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2pPr>
            <a:lvl3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3pPr>
            <a:lvl4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4pPr>
            <a:lvl5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5pPr>
            <a:lvl6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6pPr>
            <a:lvl7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7pPr>
            <a:lvl8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8pPr>
            <a:lvl9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pPr>
            <a:r>
              <a:rPr sz="1575" b="0">
                <a:solidFill>
                  <a:srgbClr val="DAD5EA"/>
                </a:solidFill>
                <a:latin typeface="Figtree"/>
                <a:ea typeface="Figtree"/>
                <a:cs typeface="Figtree"/>
              </a:rPr>
              <a:t>El proyecto ya permite recorrer la experiencia principal, con límites técnicos todavía explícitos.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6BE9D-B946-41DE-8DF6-16FEBC9A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91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275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eudila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D6087-5F68-4EA1-88B2-D732F6DA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225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225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225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225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225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225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225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225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225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2250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Disponible en la vista previa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E9D50-C774-4ECC-ABD8-3604AC6D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4914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165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165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165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165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165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165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165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165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165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1650" b="0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Registro completo, historial de la pestaña, calendario, evolución, factores y exportaciones personales. También existen autenticación, recuperación y perfil privado.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A7666-D7ED-4222-A553-4F29DDD3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225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225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225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225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225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225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225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225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225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2250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Pendiente para una versión integrada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A0DD1-EC39-4656-9707-4A917898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165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165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165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165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165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165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165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165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165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1650" b="0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Persistir los registros emocionales en una cuenta, completar la configuración de acceso y revisar profesionalmente los textos de análisis.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F029C-CA3F-481D-B2D7-737D702EE1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f2cd7fb114bf3"/>
          <a:srcRect xmlns:a="http://schemas.openxmlformats.org/drawingml/2006/main" l="0" t="0" r="85500" b="0"/>
          <a:stretch xmlns:a="http://schemas.openxmlformats.org/drawingml/2006/main"/>
        </p:blipFill>
        <p:spPr>
          <a:xfrm xmlns:a="http://schemas.openxmlformats.org/drawingml/2006/main">
            <a:off x="7810500" y="2266950"/>
            <a:ext cx="2857500" cy="38862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</p:spTree>
    <p:extLst>
      <p:ext uri="{BB962C8B-B14F-4D97-AF65-F5344CB8AC3E}">
        <p14:creationId xmlns:p14="http://schemas.microsoft.com/office/powerpoint/2010/main" val="11519761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7C0CA-D5B9-4508-A2FA-3E3A6740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125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7444A-845E-4C99-BD8E-95DE45B9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33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33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33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33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33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33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33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33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33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3375" b="1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Hacia dónde apunta Eudila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72747-CD78-454D-B46E-FE32EC09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1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5F70F-A35D-4D09-9E9F-63EDD626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95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9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29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29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29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29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29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29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29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29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29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2925" b="1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Que registrar cómo te sentís sea tan simple como mirar el día, y tan útil como llegar a una conversación con más contexto.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70CAD-6ABD-49F7-9C43-55E3B1F9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685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defPPr>
            <a:lvl1pPr>
              <a:defRPr sz="16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1pPr>
            <a:lvl2pPr>
              <a:defRPr sz="16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2pPr>
            <a:lvl3pPr>
              <a:defRPr sz="16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3pPr>
            <a:lvl4pPr>
              <a:defRPr sz="16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4pPr>
            <a:lvl5pPr>
              <a:defRPr sz="16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5pPr>
            <a:lvl6pPr>
              <a:defRPr sz="16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6pPr>
            <a:lvl7pPr>
              <a:defRPr sz="16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7pPr>
            <a:lvl8pPr>
              <a:defRPr sz="16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8pPr>
            <a:lvl9pPr>
              <a:defRPr sz="16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AD5EA"/>
                </a:solidFill>
                <a:latin typeface="Figtree"/>
                <a:ea typeface="Figtree"/>
                <a:cs typeface="Figtree"/>
              </a:defRPr>
            </a:pPr>
            <a:r>
              <a:rPr sz="1650" b="0">
                <a:solidFill>
                  <a:srgbClr val="DAD5EA"/>
                </a:solidFill>
                <a:latin typeface="Figtree"/>
                <a:ea typeface="Figtree"/>
                <a:cs typeface="Figtree"/>
              </a:rPr>
              <a:t>El próximo tramo busca consolidar la continuidad de los registros, reforzar el control sobre los datos y sumar funciones personales como diario, sueño, fotos y logros, siempre sin sustituir el acompañamiento humano.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EF70D-AA59-4BD2-A1EE-C2F925F8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defPPr>
            <a:lvl1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1pPr>
            <a:lvl2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2pPr>
            <a:lvl3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3pPr>
            <a:lvl4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4pPr>
            <a:lvl5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5pPr>
            <a:lvl6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6pPr>
            <a:lvl7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7pPr>
            <a:lvl8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8pPr>
            <a:lvl9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6C2CF"/>
                </a:solidFill>
                <a:latin typeface="Figtree"/>
                <a:ea typeface="Figtree"/>
                <a:cs typeface="Figtree"/>
              </a:defRPr>
            </a:pPr>
            <a:r>
              <a:rPr sz="1275" b="1">
                <a:solidFill>
                  <a:srgbClr val="F6C2CF"/>
                </a:solidFill>
                <a:latin typeface="Figtree"/>
                <a:ea typeface="Figtree"/>
                <a:cs typeface="Figtree"/>
              </a:rPr>
              <a:t>Código abierto en github.com/Eudila/eudila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FD37D-2A78-4CA5-85DE-1EF0358E42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7711a59644211"/>
          <a:stretch xmlns:a="http://schemas.openxmlformats.org/drawingml/2006/main"/>
        </p:blipFill>
        <p:spPr>
          <a:xfrm xmlns:a="http://schemas.openxmlformats.org/drawingml/2006/main">
            <a:off x="8286750" y="1619250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AF497-B4A8-4056-B840-0A1EB1F1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361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defPPr>
            <a:lvl1pPr>
              <a:defRPr sz="18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1pPr>
            <a:lvl2pPr>
              <a:defRPr sz="18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2pPr>
            <a:lvl3pPr>
              <a:defRPr sz="18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3pPr>
            <a:lvl4pPr>
              <a:defRPr sz="18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4pPr>
            <a:lvl5pPr>
              <a:defRPr sz="18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5pPr>
            <a:lvl6pPr>
              <a:defRPr sz="18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6pPr>
            <a:lvl7pPr>
              <a:defRPr sz="18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7pPr>
            <a:lvl8pPr>
              <a:defRPr sz="18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8pPr>
            <a:lvl9pPr>
              <a:defRPr sz="18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4F1FA"/>
                </a:solidFill>
                <a:latin typeface="Figtree"/>
                <a:ea typeface="Figtree"/>
                <a:cs typeface="Figtree"/>
              </a:defRPr>
            </a:pPr>
            <a:r>
              <a:rPr sz="1875" b="1">
                <a:solidFill>
                  <a:srgbClr val="F4F1FA"/>
                </a:solidFill>
                <a:latin typeface="Figtree"/>
                <a:ea typeface="Figtree"/>
                <a:cs typeface="Figtree"/>
              </a:rPr>
              <a:t>Un espejo tranquilo para cada estado de ánimo</a:t>
            </a:r>
          </a:p>
        </p:txBody>
      </p:sp>
    </p:spTree>
    <p:extLst>
      <p:ext uri="{BB962C8B-B14F-4D97-AF65-F5344CB8AC3E}">
        <p14:creationId xmlns:p14="http://schemas.microsoft.com/office/powerpoint/2010/main" val="17669951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2026-10-26T22:07:55.1590000Z</dcterms:created>
  <dcterms:modified xsi:type="dcterms:W3CDTF">2026-10-26T22:07:55.1590000Z</dcterms:modified>
</coreProperties>
</file>