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01bae33b8041cc" /><Relationship Type="http://schemas.openxmlformats.org/officeDocument/2006/relationships/extended-properties" Target="/docProps/app.xml" Id="Re455041f5bd34ed1" /><Relationship Type="http://schemas.openxmlformats.org/officeDocument/2006/relationships/officeDocument" Target="/ppt/presentation.xml" Id="R4316f27cb91640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2a5e08b3484d0a"/>
  </p:sldMasterIdLst>
  <p:notesMasterIdLst>
    <p:notesMasterId xmlns:r="http://schemas.openxmlformats.org/officeDocument/2006/relationships" r:id="R38464449ab2b4699"/>
  </p:notesMasterIdLst>
  <p:sldIdLst>
    <p:sldId xmlns:r="http://schemas.openxmlformats.org/officeDocument/2006/relationships" id="256" r:id="R02681c9edd1b47e4"/>
    <p:sldId xmlns:r="http://schemas.openxmlformats.org/officeDocument/2006/relationships" id="257" r:id="R7cdf278b435a4218"/>
    <p:sldId xmlns:r="http://schemas.openxmlformats.org/officeDocument/2006/relationships" id="258" r:id="R7a0a8fc31a924cc1"/>
    <p:sldId xmlns:r="http://schemas.openxmlformats.org/officeDocument/2006/relationships" id="259" r:id="R748145b23dd64822"/>
    <p:sldId xmlns:r="http://schemas.openxmlformats.org/officeDocument/2006/relationships" id="260" r:id="Rcb2f1c3632fd4f85"/>
    <p:sldId xmlns:r="http://schemas.openxmlformats.org/officeDocument/2006/relationships" id="261" r:id="Rb0dff0d00c3a4758"/>
    <p:sldId xmlns:r="http://schemas.openxmlformats.org/officeDocument/2006/relationships" id="262" r:id="R9696dda9510849a3"/>
    <p:sldId xmlns:r="http://schemas.openxmlformats.org/officeDocument/2006/relationships" id="263" r:id="R47768475225048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28cbb133dc4474" /><Relationship Type="http://schemas.openxmlformats.org/officeDocument/2006/relationships/slideMaster" Target="/ppt/slideMasters/slideMaster1.xml" Id="R352a5e08b3484d0a" /><Relationship Type="http://schemas.openxmlformats.org/officeDocument/2006/relationships/notesMaster" Target="/ppt/notesMasters/notesMaster1.xml" Id="R38464449ab2b4699" /><Relationship Type="http://schemas.openxmlformats.org/officeDocument/2006/relationships/presProps" Target="/ppt/presProps.xml" Id="Rb443f4bc64a247ab" /><Relationship Type="http://schemas.openxmlformats.org/officeDocument/2006/relationships/tableStyles" Target="/ppt/tableStyles.xml" Id="Rd849614f03c5406d" /><Relationship Type="http://schemas.openxmlformats.org/officeDocument/2006/relationships/slide" Target="/ppt/slides/slide1.xml" Id="R02681c9edd1b47e4" /><Relationship Type="http://schemas.openxmlformats.org/officeDocument/2006/relationships/slide" Target="/ppt/slides/slide2.xml" Id="R7cdf278b435a4218" /><Relationship Type="http://schemas.openxmlformats.org/officeDocument/2006/relationships/slide" Target="/ppt/slides/slide3.xml" Id="R7a0a8fc31a924cc1" /><Relationship Type="http://schemas.openxmlformats.org/officeDocument/2006/relationships/slide" Target="/ppt/slides/slide4.xml" Id="R748145b23dd64822" /><Relationship Type="http://schemas.openxmlformats.org/officeDocument/2006/relationships/slide" Target="/ppt/slides/slide5.xml" Id="Rcb2f1c3632fd4f85" /><Relationship Type="http://schemas.openxmlformats.org/officeDocument/2006/relationships/slide" Target="/ppt/slides/slide6.xml" Id="Rb0dff0d00c3a4758" /><Relationship Type="http://schemas.openxmlformats.org/officeDocument/2006/relationships/slide" Target="/ppt/slides/slide7.xml" Id="R9696dda9510849a3" /><Relationship Type="http://schemas.openxmlformats.org/officeDocument/2006/relationships/slide" Target="/ppt/slides/slide8.xml" Id="R47768475225048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c19f6370a645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5c0de8aeac4faa" /><Relationship Type="http://schemas.openxmlformats.org/officeDocument/2006/relationships/notesMaster" Target="/ppt/notesMasters/notesMaster1.xml" Id="R02deae47d23b4c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7ad89e242748e9" /><Relationship Type="http://schemas.openxmlformats.org/officeDocument/2006/relationships/notesMaster" Target="/ppt/notesMasters/notesMaster1.xml" Id="Rbfb07686e70e4f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a6ecd68e4d4622" /><Relationship Type="http://schemas.openxmlformats.org/officeDocument/2006/relationships/notesMaster" Target="/ppt/notesMasters/notesMaster1.xml" Id="Re0f3df30767847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96233faa9d4197" /><Relationship Type="http://schemas.openxmlformats.org/officeDocument/2006/relationships/notesMaster" Target="/ppt/notesMasters/notesMaster1.xml" Id="R11b16236354746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a4533edd594a48" /><Relationship Type="http://schemas.openxmlformats.org/officeDocument/2006/relationships/notesMaster" Target="/ppt/notesMasters/notesMaster1.xml" Id="R6cd4b384949047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9ca2e1ed3c47e6" /><Relationship Type="http://schemas.openxmlformats.org/officeDocument/2006/relationships/notesMaster" Target="/ppt/notesMasters/notesMaster1.xml" Id="R720730fe8d3048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8dbec6c7f3448d" /><Relationship Type="http://schemas.openxmlformats.org/officeDocument/2006/relationships/notesMaster" Target="/ppt/notesMasters/notesMaster1.xml" Id="R6e1ce17b10624c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acd692a79148a3" /><Relationship Type="http://schemas.openxmlformats.org/officeDocument/2006/relationships/notesMaster" Target="/ppt/notesMasters/notesMaster1.xml" Id="R5b1294e7ffde4f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Eudila es un proyecto web de registro emocional en desarrollo.</a:t>
            </a:r>
          </a:p>
          <a:p xmlns:a="http://schemas.openxmlformats.org/drawingml/2006/main">
            <a:r>
              <a:t>Fuente: PRODUCT.md y DESIGN.md del repositorio Eudila.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registrar ánimo, emoción y factores con poca fricción.</a:t>
            </a:r>
          </a:p>
          <a:p xmlns:a="http://schemas.openxmlformats.org/drawingml/2006/main">
            <a:r>
              <a:t>Fuente: PRODUCT.md; DESIGN.md.</a:t>
            </a:r>
          </a:p>
          <a:p xmlns:a="http://schemas.openxmlformats.org/drawingml/2006/main">
            <a:r>
              <a:t>Imagen: public/brand/icon-512.png, activo oficial de marca.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recorrido actual tiene cinco pasos: tipo, ánimo, emoción, factores y confirmación.</a:t>
            </a:r>
          </a:p>
          <a:p xmlns:a="http://schemas.openxmlformats.org/drawingml/2006/main">
            <a:r>
              <a:t>Fuente: README.md y rutas app/registro del repositorio.</a:t>
            </a:r>
          </a:p>
          <a:p xmlns:a="http://schemas.openxmlformats.org/drawingml/2006/main">
            <a:r>
              <a:t>Imagen: captura real de la app a triple resolución, sin recorte en PowerPoint.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escala va de Muy desagradable a Muy agradable y conserva siete niveles.</a:t>
            </a:r>
          </a:p>
          <a:p xmlns:a="http://schemas.openxmlformats.org/drawingml/2006/main">
            <a:r>
              <a:t>Fuente: DESIGN.md; docs/design/mascota/README.md.</a:t>
            </a:r>
          </a:p>
          <a:p xmlns:a="http://schemas.openxmlformats.org/drawingml/2006/main">
            <a:r>
              <a:t>Imagen: captura real de la app a triple resolución, preparada sin recortes parciales.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vistas de evolución y factores son descriptivas y no clínicas.</a:t>
            </a:r>
          </a:p>
          <a:p xmlns:a="http://schemas.openxmlformats.org/drawingml/2006/main">
            <a:r>
              <a:t>El modo de vista previa permite exportar PDF, CSV y JSON en el navegador.</a:t>
            </a:r>
          </a:p>
          <a:p xmlns:a="http://schemas.openxmlformats.org/drawingml/2006/main">
            <a:r>
              <a:t>Fuente: PRODUCT.md y README.md, secciones Frontend completo, Evolución y factores.</a:t>
            </a:r>
          </a:p>
          <a:p xmlns:a="http://schemas.openxmlformats.org/drawingml/2006/main">
            <a:r>
              <a:t>Imagen: captura real de la app a triple resolución; incluye un ejemplo ficticio.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generación local de archivos no equivale a ausencia de almacenamiento remoto en una futura cuenta.</a:t>
            </a:r>
          </a:p>
          <a:p xmlns:a="http://schemas.openxmlformats.org/drawingml/2006/main">
            <a:r>
              <a:t>La Ayuda offline requiere una primera carga online; una llamada necesita señal telefónica.</a:t>
            </a:r>
          </a:p>
          <a:p xmlns:a="http://schemas.openxmlformats.org/drawingml/2006/main">
            <a:r>
              <a:t>Eudila no realiza diagnósticos ni reemplaza atención profesional.</a:t>
            </a:r>
          </a:p>
          <a:p xmlns:a="http://schemas.openxmlformats.org/drawingml/2006/main">
            <a:r>
              <a:t>Fuente: PRODUCT.md, README.md y docs/content/ayuda.md.</a:t>
            </a:r>
          </a:p>
          <a:p xmlns:a="http://schemas.openxmlformats.org/drawingml/2006/main">
            <a:r>
              <a:t>Imagen: captura real de la app a triple resolución, sin recorte en PowerPoint.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autenticación no implica todavía sincronización de registros emocionales.</a:t>
            </a:r>
          </a:p>
          <a:p xmlns:a="http://schemas.openxmlformats.org/drawingml/2006/main">
            <a:r>
              <a:t>Google requiere credenciales OAuth configuradas.</a:t>
            </a:r>
          </a:p>
          <a:p xmlns:a="http://schemas.openxmlformats.org/drawingml/2006/main">
            <a:r>
              <a:t>La revisión clínica profesional de textos sigue pendiente.</a:t>
            </a:r>
          </a:p>
          <a:p xmlns:a="http://schemas.openxmlformats.org/drawingml/2006/main">
            <a:r>
              <a:t>Fuente: PRODUCT.md y README.md.</a:t>
            </a:r>
          </a:p>
          <a:p xmlns:a="http://schemas.openxmlformats.org/drawingml/2006/main">
            <a:r>
              <a:t>Imagen: captura real de la app a triple resolución, sin recorte en PowerPoint.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Visión del producto basada en los objetivos documentados, sin propuesta comercial.</a:t>
            </a:r>
          </a:p>
          <a:p xmlns:a="http://schemas.openxmlformats.org/drawingml/2006/main">
            <a:r>
              <a:t>Diario, sueño, fotos y logros permanecen en backlog.</a:t>
            </a:r>
          </a:p>
          <a:p xmlns:a="http://schemas.openxmlformats.org/drawingml/2006/main">
            <a:r>
              <a:t>Fuente: PRODUCT.md; README.md; GitHub Eudila/eudila.</a:t>
            </a:r>
          </a:p>
          <a:p xmlns:a="http://schemas.openxmlformats.org/drawingml/2006/main">
            <a:r>
              <a:t>Imagen: docs/design/evidence/mascota-logo-2026-10-24/icono-app-512.png.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87fbf494e644c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cc41cc7222458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ce3586831948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0eeb86224e4a1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defcfb2462496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38bd10181744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CA609FB-405E-4882-82A6-041CF2198A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87E9DC9-4635-41D9-80D0-90348C0EA8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26708AF-B21B-4219-8AA6-35A7918F61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62493B-F786-412E-8E62-40B8FC0924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0424006-99C9-4005-BA79-7EFE31DC08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E91C23F-9171-450C-9964-65BB88A86D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A3BA875-72D3-4913-AFC6-416037CAE4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3A79C0-DBEF-49E7-8210-2C034444DFA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2CB001-88BB-410A-9CC1-D3B2A7ADFA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DF02484-3448-407B-A975-D29D8B86B5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530ff23d4749ea" /><Relationship Type="http://schemas.openxmlformats.org/officeDocument/2006/relationships/slideLayout" Target="/ppt/slideLayouts/slideLayout1.xml" Id="Ra545e9e2d94644f9" /><Relationship Type="http://schemas.openxmlformats.org/officeDocument/2006/relationships/slideLayout" Target="/ppt/slideLayouts/slideLayout2.xml" Id="R5c8d0fe559c9453a" /><Relationship Type="http://schemas.openxmlformats.org/officeDocument/2006/relationships/slideLayout" Target="/ppt/slideLayouts/slideLayout3.xml" Id="R30c0cb72790841a2" /><Relationship Type="http://schemas.openxmlformats.org/officeDocument/2006/relationships/slideLayout" Target="/ppt/slideLayouts/slideLayout4.xml" Id="R1a65aeb1d5424b5e" /><Relationship Type="http://schemas.openxmlformats.org/officeDocument/2006/relationships/slideLayout" Target="/ppt/slideLayouts/slideLayout5.xml" Id="Rc7a18e97904f4149" /><Relationship Type="http://schemas.openxmlformats.org/officeDocument/2006/relationships/slideLayout" Target="/ppt/slideLayouts/slideLayout6.xml" Id="R4c570acd95ca4d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45e9e2d94644f9"/>
    <p:sldLayoutId xmlns:r="http://schemas.openxmlformats.org/officeDocument/2006/relationships" id="2147483650" r:id="R5c8d0fe559c9453a"/>
    <p:sldLayoutId xmlns:r="http://schemas.openxmlformats.org/officeDocument/2006/relationships" id="2147483651" r:id="R30c0cb72790841a2"/>
    <p:sldLayoutId xmlns:r="http://schemas.openxmlformats.org/officeDocument/2006/relationships" id="2147483652" r:id="R1a65aeb1d5424b5e"/>
    <p:sldLayoutId xmlns:r="http://schemas.openxmlformats.org/officeDocument/2006/relationships" id="2147483653" r:id="Rc7a18e97904f4149"/>
    <p:sldLayoutId xmlns:r="http://schemas.openxmlformats.org/officeDocument/2006/relationships" id="2147483654" r:id="R4c570acd95ca4d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d4f549664b4eec" /><Relationship Type="http://schemas.openxmlformats.org/officeDocument/2006/relationships/image" Target="/ppt/media/image.png" Id="R65ce5f89b80d43b3" /><Relationship Type="http://schemas.openxmlformats.org/officeDocument/2006/relationships/notesSlide" Target="/ppt/notesSlides/notesSlide1.xml" Id="R568c9fb133414a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1b9431138743cf" /><Relationship Type="http://schemas.openxmlformats.org/officeDocument/2006/relationships/image" Target="/ppt/media/image2.png" Id="R9f1b629526b546bc" /><Relationship Type="http://schemas.openxmlformats.org/officeDocument/2006/relationships/notesSlide" Target="/ppt/notesSlides/notesSlide2.xml" Id="R77aa4e8494a34f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9586a2c2154074" /><Relationship Type="http://schemas.openxmlformats.org/officeDocument/2006/relationships/image" Target="/ppt/media/image3.png" Id="R232755f7673841d7" /><Relationship Type="http://schemas.openxmlformats.org/officeDocument/2006/relationships/notesSlide" Target="/ppt/notesSlides/notesSlide3.xml" Id="R487c0360459a40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83cfa17d5e41c2" /><Relationship Type="http://schemas.openxmlformats.org/officeDocument/2006/relationships/image" Target="/ppt/media/image4.png" Id="Ra8f9e140ad094418" /><Relationship Type="http://schemas.openxmlformats.org/officeDocument/2006/relationships/notesSlide" Target="/ppt/notesSlides/notesSlide4.xml" Id="R49c694ad55f14a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a5e87dc43440b6" /><Relationship Type="http://schemas.openxmlformats.org/officeDocument/2006/relationships/image" Target="/ppt/media/image5.png" Id="R7f953b5257474efa" /><Relationship Type="http://schemas.openxmlformats.org/officeDocument/2006/relationships/notesSlide" Target="/ppt/notesSlides/notesSlide5.xml" Id="R15dafe81d84a4e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ec8d7cbe3d4096" /><Relationship Type="http://schemas.openxmlformats.org/officeDocument/2006/relationships/image" Target="/ppt/media/image6.png" Id="Rb988258d23d94864" /><Relationship Type="http://schemas.openxmlformats.org/officeDocument/2006/relationships/notesSlide" Target="/ppt/notesSlides/notesSlide6.xml" Id="R66906a479d384d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0e8ef6b87d428d" /><Relationship Type="http://schemas.openxmlformats.org/officeDocument/2006/relationships/image" Target="/ppt/media/image7.png" Id="R05086597d29e42c2" /><Relationship Type="http://schemas.openxmlformats.org/officeDocument/2006/relationships/notesSlide" Target="/ppt/notesSlides/notesSlide7.xml" Id="R0e8ead91a3b44d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95d00775b94c43" /><Relationship Type="http://schemas.openxmlformats.org/officeDocument/2006/relationships/image" Target="/ppt/media/image8.png" Id="Reb4c82d1ceec4766" /><Relationship Type="http://schemas.openxmlformats.org/officeDocument/2006/relationships/notesSlide" Target="/ppt/notesSlides/notesSlide8.xml" Id="Ra72af5b7235b40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552A18-4450-4592-A865-CA1F998F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58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5850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DE5BD-D627-4D5F-898C-8DF8E1E3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895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265B4-F2C6-44F1-AB8C-7CFB1DF6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5524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150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Un espejo tranquilo para</a:t>
            </a:r>
          </a:p>
          <a:p xmlns:a="http://schemas.openxmlformats.org/drawingml/2006/main">
            <a:pPr>
              <a:defRPr sz="315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150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cada estado de ánimo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ADF50-5E89-451A-B833-70FB51A9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5810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72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Una app abierta para registrar cómo te sentís, reconocer lo que influye en tu día y llevar más contexto a una conversación de cuidado.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3950F-6C71-4C60-9C34-2AB84877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defPPr>
            <a:lvl1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1pPr>
            <a:lvl2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2pPr>
            <a:lvl3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3pPr>
            <a:lvl4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4pPr>
            <a:lvl5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5pPr>
            <a:lvl6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6pPr>
            <a:lvl7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7pPr>
            <a:lvl8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8pPr>
            <a:lvl9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pPr>
            <a:r>
              <a:rPr sz="1200" b="0">
                <a:solidFill>
                  <a:srgbClr val="AEA7C3"/>
                </a:solidFill>
                <a:latin typeface="Figtree"/>
                <a:ea typeface="Figtree"/>
                <a:cs typeface="Figtree"/>
              </a:rPr>
              <a:t>Presentación general · Octubre 2026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F7533-F41A-4A61-96D0-E9B09275B7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e5f89b80d43b3"/>
          <a:stretch xmlns:a="http://schemas.openxmlformats.org/drawingml/2006/main"/>
        </p:blipFill>
        <p:spPr>
          <a:xfrm xmlns:a="http://schemas.openxmlformats.org/drawingml/2006/main">
            <a:off x="7239000" y="990600"/>
            <a:ext cx="4000500" cy="400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761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A69F8-B7F5-4EC9-96D5-DDE58858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C01F1-928B-43D8-A6DD-A5E9D1EB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Un registro breve para entender el día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FFEE4-AD95-4A99-8A9F-CBD212CD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F2838-E76D-47FC-8B72-FFF55D19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Eudila propone una pausa simple, con lenguaje cotidiano y sin juzgar lo que aparece.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24C16-8DCF-4F33-9041-7F2D722F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6DEC38-C791-470C-8257-F1C78A48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400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Muchas veces el ánimo queda reducido a “bien” o “mal”.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1315F9-267C-4525-9D7C-46973165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72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La app ayuda a ponerle un nombre al estado, reconocer una emoción y anotar qué factores pudieron influir.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D973F3-3B07-4ED9-A2C6-E2C5C50B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447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El resultado es un registro propio que se puede volver a mirar con calma.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CB633-D184-4D8F-9AA6-3314B487C6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b629526b546bc"/>
          <a:stretch xmlns:a="http://schemas.openxmlformats.org/drawingml/2006/main"/>
        </p:blipFill>
        <p:spPr>
          <a:xfrm xmlns:a="http://schemas.openxmlformats.org/drawingml/2006/main">
            <a:off x="7239000" y="2209800"/>
            <a:ext cx="3429000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474749-C188-4F34-A090-ADEE568B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9055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defPPr>
            <a:lvl1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1pPr>
            <a:lvl2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2pPr>
            <a:lvl3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3pPr>
            <a:lvl4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4pPr>
            <a:lvl5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5pPr>
            <a:lvl6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6pPr>
            <a:lvl7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7pPr>
            <a:lvl8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8pPr>
            <a:lvl9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AEA7C3"/>
                </a:solidFill>
                <a:latin typeface="Figtree"/>
                <a:ea typeface="Figtree"/>
                <a:cs typeface="Figtree"/>
              </a:defRPr>
            </a:pPr>
            <a:r>
              <a:rPr sz="1275" b="0">
                <a:solidFill>
                  <a:srgbClr val="AEA7C3"/>
                </a:solidFill>
                <a:latin typeface="Figtree"/>
                <a:ea typeface="Figtree"/>
                <a:cs typeface="Figtree"/>
              </a:rPr>
              <a:t>Una presencia serena acompaña la pregunta.</a:t>
            </a:r>
          </a:p>
        </p:txBody>
      </p:sp>
    </p:spTree>
    <p:extLst>
      <p:ext uri="{BB962C8B-B14F-4D97-AF65-F5344CB8AC3E}">
        <p14:creationId xmlns:p14="http://schemas.microsoft.com/office/powerpoint/2010/main" val="8218172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5FE3BB-4EFB-4216-A710-CC4B04C6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E4310-69DA-4923-88A6-496F0762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El recorrido de un registro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3776A-A180-4AD0-A754-1A656559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8A7F2A-E660-4612-AC2F-C1113340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Una pregunta principal por pantalla mantiene el foco y reduce la carga del momento.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32B6F-8A65-4B5D-AC1A-DAF23745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45991-1C60-48FA-A9F5-453EBA8722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2755f7673841d7"/>
          <a:stretch xmlns:a="http://schemas.openxmlformats.org/drawingml/2006/main"/>
        </p:blipFill>
        <p:spPr>
          <a:xfrm xmlns:a="http://schemas.openxmlformats.org/drawingml/2006/main">
            <a:off x="1000125" y="2077286"/>
            <a:ext cx="2457450" cy="380832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B6E9F-4790-4622-80EB-C18EC480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122652-2C23-4C40-A3B8-DCE277B0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Momento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99C38-938D-4E10-8AD0-1B891443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Mañana, tarde, noche o registro libre.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DDACE-18F5-4A91-BA88-396CF4C0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4156B4-95CC-4B36-9D27-169B129A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Ánimo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87997D-1306-4EF1-A547-DE97D890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337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Una escala continua de siete estados.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11252-F2E9-4F0B-8DD8-AC4C63F0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D6A37D-0AE8-408C-9A73-5B9626E9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Emoción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8DA4DE-BC3D-46FD-809E-E4A155D5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148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Una palabra que ayude a precisar lo sentido.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2DC01A-9DBA-4491-96E1-FB6EECD0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01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43FCC-1911-470E-8571-D3FC0850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Factores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840D6F-0CA3-422A-9D17-A4B44632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958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Uno, varios o ninguno, según la experiencia del día.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BAC232-D95E-40FD-B507-19C23B79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911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0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8E3AF-C0C7-4806-8DED-8BCFA864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721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Revisión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ADB6E3-B750-4792-ABE0-ECF36C55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3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La persona confirma el registro antes de guardarlo.</a:t>
            </a:r>
          </a:p>
        </p:txBody>
      </p:sp>
    </p:spTree>
    <p:extLst>
      <p:ext uri="{BB962C8B-B14F-4D97-AF65-F5344CB8AC3E}">
        <p14:creationId xmlns:p14="http://schemas.microsoft.com/office/powerpoint/2010/main" val="5019707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8C31CE-525A-49A2-8995-74151093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008DB-9F91-43B9-BEC0-C807E66D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Siete estados, sin respuestas correctas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0F0EE-A8F7-45B3-A655-DCF81751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35898-A525-46C4-926C-D6122FD9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El orbe cambia de forma y color para acompañar matices sin convertirlos en categorías clínicas.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108C9-C3C7-40B8-919D-D438EAF5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BDDDBD-2AC3-4A01-94E0-247C45D8F5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9e140ad094418"/>
          <a:stretch xmlns:a="http://schemas.openxmlformats.org/drawingml/2006/main"/>
        </p:blipFill>
        <p:spPr>
          <a:xfrm xmlns:a="http://schemas.openxmlformats.org/drawingml/2006/main">
            <a:off x="744794" y="2552700"/>
            <a:ext cx="3711063" cy="3486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E446F-CE56-4FB9-B91E-5EBCBBAA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3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Una escala con matices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55A13-F376-456C-B940-49DBECAC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05150"/>
            <a:ext cx="28575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Muy desagradable</a:t>
            </a:r>
          </a:p>
          <a:p xmlns:a="http://schemas.openxmlformats.org/drawingml/2006/main">
            <a: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Desagradable</a:t>
            </a:r>
          </a:p>
          <a:p xmlns:a="http://schemas.openxmlformats.org/drawingml/2006/main">
            <a: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Algo desagradable</a:t>
            </a:r>
          </a:p>
          <a:p xmlns:a="http://schemas.openxmlformats.org/drawingml/2006/main">
            <a: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Neutral</a:t>
            </a:r>
          </a:p>
          <a:p xmlns:a="http://schemas.openxmlformats.org/drawingml/2006/main">
            <a: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Algo agradable</a:t>
            </a:r>
          </a:p>
          <a:p xmlns:a="http://schemas.openxmlformats.org/drawingml/2006/main">
            <a: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Agradable</a:t>
            </a:r>
          </a:p>
          <a:p xmlns:a="http://schemas.openxmlformats.org/drawingml/2006/main">
            <a:pPr>
              <a:defRPr sz="17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7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Muy agradable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CE856-006F-4067-B401-24F9CD72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05150"/>
            <a:ext cx="2857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Cada estado vale por sí mismo. La interfaz evita premiar los estados agradables o reprochar los difíciles.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17C55A-2FEC-4B3F-B864-7E764CD4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19650"/>
            <a:ext cx="285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500" b="0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La escala describe cómo se siente la persona. No funciona como una categoría clínica.</a:t>
            </a:r>
          </a:p>
        </p:txBody>
      </p:sp>
    </p:spTree>
    <p:extLst>
      <p:ext uri="{BB962C8B-B14F-4D97-AF65-F5344CB8AC3E}">
        <p14:creationId xmlns:p14="http://schemas.microsoft.com/office/powerpoint/2010/main" val="14516118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95E706-FF90-42F5-9A62-D08B01B9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66DA67-9FFB-40D1-8C9E-3EE6CAF1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La información vuelve a la persona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1A395-8D5C-40A8-A663-9246BF7B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78804-A74D-4B78-8874-03C08E5F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Los registros se organizan para consultar el día, el calendario y cambios observados a lo largo del tiempo.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BD77E4-3A32-4E2E-B734-5CC7A3CA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C22D2A-51F2-43F3-A034-364A1E84CC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53b5257474efa"/>
          <a:stretch xmlns:a="http://schemas.openxmlformats.org/drawingml/2006/main"/>
        </p:blipFill>
        <p:spPr>
          <a:xfrm xmlns:a="http://schemas.openxmlformats.org/drawingml/2006/main">
            <a:off x="685800" y="2802411"/>
            <a:ext cx="4476750" cy="327247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C800A-53DD-4DA9-B7AC-85157935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3622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1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Hoy y calendario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5BADA-B70F-4EEA-922C-41663357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38450"/>
            <a:ext cx="514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Permiten volver a cada registro y conservar el contexto de la fecha.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18F6A3-D2BD-496B-95C1-391569AA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29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1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Evolución y factores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5AD53C-A401-47E2-83BD-671BC547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305300"/>
            <a:ext cx="514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Describen lo observado sin estimar días faltantes, inferir causas ni producir diagnósticos.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00071-A2ED-4F28-9395-FBE97934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53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1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Exportación personal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04646-E3F0-4451-B856-723124AE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829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PDF para conversar y archivos CSV o JSON para llevarse el historial.</a:t>
            </a:r>
          </a:p>
        </p:txBody>
      </p:sp>
    </p:spTree>
    <p:extLst>
      <p:ext uri="{BB962C8B-B14F-4D97-AF65-F5344CB8AC3E}">
        <p14:creationId xmlns:p14="http://schemas.microsoft.com/office/powerpoint/2010/main" val="315544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389FB-4E44-4631-8255-BF1EEB10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1853E-A1D2-4F17-BB8D-315DBEA5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Privacidad, ayuda y límites claros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CBE6A-8EA2-4AB2-AC9A-5C2A4994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16C4C-0DD1-4AE9-BD0B-F43EF166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El diseño busca que la persona conserve el control y sepa qué puede esperar de la herramienta.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14A62-CB96-4ACB-96DD-11826BA7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DE789-7F83-4D73-BE94-7805E10E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3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Datos propios y portables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9C237-3988-4391-9065-65F25943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71800"/>
            <a:ext cx="4953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Las exportaciones se generan en el navegador. Esto evita un servidor adicional para producir los archivos, aunque una cuenta futura sí requerirá almacenamiento remoto seguro.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D3D49-8401-4BE9-86B5-5C31192B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5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3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Ayuda disponible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12649-DB75-40FA-A933-AE34C651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4953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La pantalla Ayuda ahora reúne teléfonos y puede consultarse sin conexión después de la primera carga. Las llamadas requieren señal telefónica.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A3DC4-E7C7-4EFB-AAA7-017D8D4B86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8258d23d94864"/>
          <a:stretch xmlns:a="http://schemas.openxmlformats.org/drawingml/2006/main"/>
        </p:blipFill>
        <p:spPr>
          <a:xfrm xmlns:a="http://schemas.openxmlformats.org/drawingml/2006/main">
            <a:off x="6953250" y="2477029"/>
            <a:ext cx="3619500" cy="3704167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B1CCE-2F62-453B-BF9F-0B15C7BD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912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 no diagnostica, no evalúa riesgo individual y no reemplaza la atención profesional.</a:t>
            </a:r>
          </a:p>
        </p:txBody>
      </p:sp>
    </p:spTree>
    <p:extLst>
      <p:ext uri="{BB962C8B-B14F-4D97-AF65-F5344CB8AC3E}">
        <p14:creationId xmlns:p14="http://schemas.microsoft.com/office/powerpoint/2010/main" val="136628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A16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595F0-20F1-4454-8F32-8C081339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F6C2E-4370-461F-825B-55DCCA47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2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Dónde estamos hoy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A88CE-1D13-4BA7-872F-1652C2BA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723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D03F8-C818-4C03-A460-0744A6DA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575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El proyecto ya permite recorrer la experiencia principal, con límites técnicos todavía explícitos.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01AA0-4C4C-47AF-9F68-E54724EC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191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eudila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3C3D3-B991-4A81-A6A6-1BF9AF20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225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Disponible en la vista previa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FB1296-36C3-42B6-8185-4CF08F61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4914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650" b="0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Registro completo, historial de la pestaña, calendario, evolución, factores y exportaciones personales. También existen autenticación, recuperación y perfil privado.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23858-5525-4D4F-B123-26F4D062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2250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Pendiente para una versión integrada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F597C-20B4-45E8-A175-6DC85171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67300"/>
            <a:ext cx="4914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650" b="0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Persistir los registros emocionales en una cuenta, completar la configuración de acceso y revisar profesionalmente los textos de análisis.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26BFE-4A5E-4692-8521-4C78424EA4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86597d29e42c2"/>
          <a:stretch xmlns:a="http://schemas.openxmlformats.org/drawingml/2006/main"/>
        </p:blipFill>
        <p:spPr>
          <a:xfrm xmlns:a="http://schemas.openxmlformats.org/drawingml/2006/main">
            <a:off x="7953375" y="2049128"/>
            <a:ext cx="2400300" cy="414086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0077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EBA050-D9A8-4C09-8B37-1F47EA42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12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5FC6E-BED1-4C1D-A368-7D3A1188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33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33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Hacia dónde apunta Eudila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C81CA-313D-4568-A96E-7C1692D7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781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1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284049-9BD3-48C7-832D-A9A9B3C8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695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292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Que registrar cómo te sentís sea tan simple como mirar el día, y tan útil como llegar a una conversación con más contexto.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B61D2-5667-4D1A-B176-0872AB63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685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defPPr>
            <a:lvl1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1pPr>
            <a:lvl2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2pPr>
            <a:lvl3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3pPr>
            <a:lvl4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4pPr>
            <a:lvl5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5pPr>
            <a:lvl6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6pPr>
            <a:lvl7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7pPr>
            <a:lvl8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8pPr>
            <a:lvl9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AD5EA"/>
                </a:solidFill>
                <a:latin typeface="Figtree"/>
                <a:ea typeface="Figtree"/>
                <a:cs typeface="Figtree"/>
              </a:defRPr>
            </a:pPr>
            <a:r>
              <a:rPr sz="1650" b="0">
                <a:solidFill>
                  <a:srgbClr val="DAD5EA"/>
                </a:solidFill>
                <a:latin typeface="Figtree"/>
                <a:ea typeface="Figtree"/>
                <a:cs typeface="Figtree"/>
              </a:rPr>
              <a:t>El próximo tramo busca consolidar la continuidad de los registros, reforzar el control sobre los datos y sumar funciones personales como diario, sueño, fotos y logros, siempre sin sustituir el acompañamiento humano.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A4414-09FE-4355-8983-282A7742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defPPr>
            <a:lvl1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1pPr>
            <a:lvl2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2pPr>
            <a:lvl3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3pPr>
            <a:lvl4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4pPr>
            <a:lvl5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5pPr>
            <a:lvl6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6pPr>
            <a:lvl7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7pPr>
            <a:lvl8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8pPr>
            <a:lvl9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6C2CF"/>
                </a:solidFill>
                <a:latin typeface="Figtree"/>
                <a:ea typeface="Figtree"/>
                <a:cs typeface="Figtree"/>
              </a:defRPr>
            </a:pPr>
            <a:r>
              <a:rPr sz="1275" b="1">
                <a:solidFill>
                  <a:srgbClr val="F6C2CF"/>
                </a:solidFill>
                <a:latin typeface="Figtree"/>
                <a:ea typeface="Figtree"/>
                <a:cs typeface="Figtree"/>
              </a:rPr>
              <a:t>Código abierto en github.com/Eudila/eudila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EC0674-0EBC-4C9E-946A-D8FC639903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c82d1ceec4766"/>
          <a:stretch xmlns:a="http://schemas.openxmlformats.org/drawingml/2006/main"/>
        </p:blipFill>
        <p:spPr>
          <a:xfrm xmlns:a="http://schemas.openxmlformats.org/drawingml/2006/main">
            <a:off x="8286750" y="1619250"/>
            <a:ext cx="2857500" cy="2857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BF65D-1C89-4A86-8FA8-219B4BEA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361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defPPr>
            <a:lvl1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1pPr>
            <a:lvl2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2pPr>
            <a:lvl3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3pPr>
            <a:lvl4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4pPr>
            <a:lvl5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5pPr>
            <a:lvl6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6pPr>
            <a:lvl7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7pPr>
            <a:lvl8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8pPr>
            <a:lvl9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4F1FA"/>
                </a:solidFill>
                <a:latin typeface="Figtree"/>
                <a:ea typeface="Figtree"/>
                <a:cs typeface="Figtree"/>
              </a:defRPr>
            </a:pPr>
            <a:r>
              <a:rPr sz="1875" b="1">
                <a:solidFill>
                  <a:srgbClr val="F4F1FA"/>
                </a:solidFill>
                <a:latin typeface="Figtree"/>
                <a:ea typeface="Figtree"/>
                <a:cs typeface="Figtree"/>
              </a:rPr>
              <a:t>Un espejo tranquilo para cada estado de ánimo</a:t>
            </a:r>
          </a:p>
        </p:txBody>
      </p:sp>
    </p:spTree>
    <p:extLst>
      <p:ext uri="{BB962C8B-B14F-4D97-AF65-F5344CB8AC3E}">
        <p14:creationId xmlns:p14="http://schemas.microsoft.com/office/powerpoint/2010/main" val="20630280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2026-10-26T22:25:45.0820000Z</dcterms:created>
  <dcterms:modified xsi:type="dcterms:W3CDTF">2026-10-26T22:25:45.0820000Z</dcterms:modified>
</coreProperties>
</file>